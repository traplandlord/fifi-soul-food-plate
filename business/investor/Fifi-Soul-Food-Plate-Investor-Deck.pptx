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9" r:id="rId20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A18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9B8A8"/>
                </a:solidFill>
                <a:latin typeface="Calibri"/>
              </a:defRPr>
            </a:pPr>
            <a:r>
              <a:t>Illustrative model · Not financial advice · Sep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459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D4A017"/>
                </a:solidFill>
                <a:latin typeface="Calibri"/>
              </a:defRPr>
            </a:pPr>
            <a:r>
              <a:t>Fifi's Soul Food Plate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4688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C4783A"/>
                </a:solidFill>
                <a:latin typeface="Calibri"/>
              </a:defRPr>
            </a:pPr>
            <a:r>
              <a:t>Momma Fifi Soul  ·  Traplord Vee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20040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AF6F0"/>
                </a:solidFill>
                <a:latin typeface="Calibri"/>
              </a:defRPr>
            </a:pPr>
            <a:r>
              <a:t>Jordan / iPhone-style day-one drop  ·  DoorDash + Grubhub hundreds/night  ·  LIVE flywheel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7548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9B8A8"/>
                </a:solidFill>
                <a:latin typeface="Calibri"/>
              </a:defRPr>
            </a:pPr>
            <a:r>
              <a:t>Investor overview  ·  Week-for-week simulator  ·  Unit economics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A18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9B8A8"/>
                </a:solidFill>
                <a:latin typeface="Calibri"/>
              </a:defRPr>
            </a:pPr>
            <a:r>
              <a:t>Illustrative model · Not financial advice · Sep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D4A017"/>
                </a:solidFill>
                <a:latin typeface="Calibri"/>
              </a:defRPr>
            </a:pPr>
            <a:r>
              <a:t>The opportunity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097280"/>
            <a:ext cx="11064240" cy="777240"/>
          </a:xfrm>
          <a:prstGeom prst="roundRect">
            <a:avLst/>
          </a:prstGeom>
          <a:solidFill>
            <a:srgbClr val="3F2818"/>
          </a:solidFill>
          <a:ln>
            <a:solidFill>
              <a:srgbClr val="5C3A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298448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AF6F0"/>
                </a:solidFill>
                <a:latin typeface="Calibri"/>
              </a:defRPr>
            </a:pPr>
            <a:r>
              <a:t>▸  Home-cooked Fried Chicken Dinner that travels — pop, marketplace, overnight, LIVE.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011680"/>
            <a:ext cx="11064240" cy="777240"/>
          </a:xfrm>
          <a:prstGeom prst="roundRect">
            <a:avLst/>
          </a:prstGeom>
          <a:solidFill>
            <a:srgbClr val="3F2818"/>
          </a:solidFill>
          <a:ln>
            <a:solidFill>
              <a:srgbClr val="5C3A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212848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AF6F0"/>
                </a:solidFill>
                <a:latin typeface="Calibri"/>
              </a:defRPr>
            </a:pPr>
            <a:r>
              <a:t>▸  Soul food + TikTok/IG LIVE scarcity energy + DoorDash/Grubhub scale from night one.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926080"/>
            <a:ext cx="11064240" cy="777240"/>
          </a:xfrm>
          <a:prstGeom prst="roundRect">
            <a:avLst/>
          </a:prstGeom>
          <a:solidFill>
            <a:srgbClr val="3F2818"/>
          </a:solidFill>
          <a:ln>
            <a:solidFill>
              <a:srgbClr val="5C3A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3127248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AF6F0"/>
                </a:solidFill>
                <a:latin typeface="Calibri"/>
              </a:defRPr>
            </a:pPr>
            <a:r>
              <a:t>▸  Go hard on day one (product-drop), then lock habit with Plate Club, rewards, repeats.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3840480"/>
            <a:ext cx="11064240" cy="777240"/>
          </a:xfrm>
          <a:prstGeom prst="roundRect">
            <a:avLst/>
          </a:prstGeom>
          <a:solidFill>
            <a:srgbClr val="3F2818"/>
          </a:solidFill>
          <a:ln>
            <a:solidFill>
              <a:srgbClr val="5C3A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4041648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AF6F0"/>
                </a:solidFill>
                <a:latin typeface="Calibri"/>
              </a:defRPr>
            </a:pPr>
            <a:r>
              <a:t>▸  Physical kitchen throughput is the real ceiling — not a 50-plate marketing flyer.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A18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9B8A8"/>
                </a:solidFill>
                <a:latin typeface="Calibri"/>
              </a:defRPr>
            </a:pPr>
            <a:r>
              <a:t>Illustrative model · Not financial advice · Sep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D4A017"/>
                </a:solidFill>
                <a:latin typeface="Calibri"/>
              </a:defRPr>
            </a:pPr>
            <a:r>
              <a:t>The product — Fried Chicken Dinner $20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097280"/>
            <a:ext cx="3566160" cy="1737360"/>
          </a:xfrm>
          <a:prstGeom prst="roundRect">
            <a:avLst/>
          </a:prstGeom>
          <a:solidFill>
            <a:srgbClr val="3F2818"/>
          </a:solidFill>
          <a:ln>
            <a:solidFill>
              <a:srgbClr val="5C3A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46304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D4A017"/>
                </a:solidFill>
                <a:latin typeface="Calibri"/>
              </a:defRPr>
            </a:pPr>
            <a:r>
              <a:t>2pc Fried Chicken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01168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AF6F0"/>
                </a:solidFill>
                <a:latin typeface="Calibri"/>
              </a:defRPr>
            </a:pPr>
            <a:r>
              <a:t>$0.59 COGS mid (RD drums)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79" y="1097280"/>
            <a:ext cx="3566160" cy="1737360"/>
          </a:xfrm>
          <a:prstGeom prst="roundRect">
            <a:avLst/>
          </a:prstGeom>
          <a:solidFill>
            <a:srgbClr val="3F2818"/>
          </a:solidFill>
          <a:ln>
            <a:solidFill>
              <a:srgbClr val="5C3A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26279" y="146304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D4A017"/>
                </a:solidFill>
                <a:latin typeface="Calibri"/>
              </a:defRPr>
            </a:pPr>
            <a:r>
              <a:t>Collard greens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26279" y="201168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AF6F0"/>
                </a:solidFill>
                <a:latin typeface="Calibri"/>
              </a:defRPr>
            </a:pPr>
            <a:r>
              <a:t>$0.85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19" y="1097280"/>
            <a:ext cx="3566160" cy="1737360"/>
          </a:xfrm>
          <a:prstGeom prst="roundRect">
            <a:avLst/>
          </a:prstGeom>
          <a:solidFill>
            <a:srgbClr val="3F2818"/>
          </a:solidFill>
          <a:ln>
            <a:solidFill>
              <a:srgbClr val="5C3A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75319" y="146304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D4A017"/>
                </a:solidFill>
                <a:latin typeface="Calibri"/>
              </a:defRPr>
            </a:pPr>
            <a:r>
              <a:t>Candied sweet potatoes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75319" y="201168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AF6F0"/>
                </a:solidFill>
                <a:latin typeface="Calibri"/>
              </a:defRPr>
            </a:pPr>
            <a:r>
              <a:t>$0.70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108960"/>
            <a:ext cx="3566160" cy="1737360"/>
          </a:xfrm>
          <a:prstGeom prst="roundRect">
            <a:avLst/>
          </a:prstGeom>
          <a:solidFill>
            <a:srgbClr val="3F2818"/>
          </a:solidFill>
          <a:ln>
            <a:solidFill>
              <a:srgbClr val="5C3A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347472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D4A017"/>
                </a:solidFill>
                <a:latin typeface="Calibri"/>
              </a:defRPr>
            </a:pPr>
            <a:r>
              <a:t>Dinner roll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402336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AF6F0"/>
                </a:solidFill>
                <a:latin typeface="Calibri"/>
              </a:defRPr>
            </a:pPr>
            <a:r>
              <a:t>$0.25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97679" y="3108960"/>
            <a:ext cx="3566160" cy="1737360"/>
          </a:xfrm>
          <a:prstGeom prst="roundRect">
            <a:avLst/>
          </a:prstGeom>
          <a:solidFill>
            <a:srgbClr val="3F2818"/>
          </a:solidFill>
          <a:ln>
            <a:solidFill>
              <a:srgbClr val="5C3A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26279" y="347472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D4A017"/>
                </a:solidFill>
                <a:latin typeface="Calibri"/>
              </a:defRPr>
            </a:pPr>
            <a:r>
              <a:t>Oil / breading / seasoning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26279" y="402336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AF6F0"/>
                </a:solidFill>
                <a:latin typeface="Calibri"/>
              </a:defRPr>
            </a:pPr>
            <a:r>
              <a:t>$0.62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46719" y="3108960"/>
            <a:ext cx="3566160" cy="1737360"/>
          </a:xfrm>
          <a:prstGeom prst="roundRect">
            <a:avLst/>
          </a:prstGeom>
          <a:solidFill>
            <a:srgbClr val="3F2818"/>
          </a:solidFill>
          <a:ln>
            <a:solidFill>
              <a:srgbClr val="5C3A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75319" y="347472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D4A017"/>
                </a:solidFill>
                <a:latin typeface="Calibri"/>
              </a:defRPr>
            </a:pPr>
            <a:r>
              <a:t>Yield / waste bridge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75319" y="402336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AF6F0"/>
                </a:solidFill>
                <a:latin typeface="Calibri"/>
              </a:defRPr>
            </a:pPr>
            <a:r>
              <a:t>$0.69 → food total $3.70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52120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9B8A8"/>
                </a:solidFill>
                <a:latin typeface="Calibri"/>
              </a:defRPr>
            </a:pPr>
            <a:r>
              <a:t>Pack +$0.44/plate  ·  DoorDash menu $26 (+ bonus sweet ~$0.75)  ·  Local contrib ~$16.30 after food COGS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A18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9B8A8"/>
                </a:solidFill>
                <a:latin typeface="Calibri"/>
              </a:defRPr>
            </a:pPr>
            <a:r>
              <a:t>Illustrative model · Not financial advice · Sep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D4A017"/>
                </a:solidFill>
                <a:latin typeface="Calibri"/>
              </a:defRPr>
            </a:pPr>
            <a:r>
              <a:t>Go-to-market: day-one product drop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229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AF6F0"/>
                </a:solidFill>
                <a:latin typeface="Calibri"/>
              </a:defRPr>
            </a:pPr>
            <a:r>
              <a:t>Treat launch like a Jordan shoe drop or iPhone release — ads front-loaded, marketplace live night one.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463040"/>
            <a:ext cx="2743200" cy="2926080"/>
          </a:xfrm>
          <a:prstGeom prst="roundRect">
            <a:avLst/>
          </a:prstGeom>
          <a:solidFill>
            <a:srgbClr val="3F2818"/>
          </a:solidFill>
          <a:ln>
            <a:solidFill>
              <a:srgbClr val="5C3A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73736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4783A"/>
                </a:solidFill>
                <a:latin typeface="Calibri"/>
              </a:defRPr>
            </a:pPr>
            <a:r>
              <a:t>Week-1 plates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28600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D4A017"/>
                </a:solidFill>
                <a:latin typeface="Calibri"/>
              </a:defRPr>
            </a:pPr>
            <a:r>
              <a:t>480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291840"/>
            <a:ext cx="2377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AF6F0"/>
                </a:solidFill>
                <a:latin typeface="Calibri"/>
              </a:defRPr>
            </a:pPr>
            <a:r>
              <a:t>Latent 480.0 (220.0–720.0)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83280" y="1463040"/>
            <a:ext cx="2743200" cy="2926080"/>
          </a:xfrm>
          <a:prstGeom prst="roundRect">
            <a:avLst/>
          </a:prstGeom>
          <a:solidFill>
            <a:srgbClr val="3F2818"/>
          </a:solidFill>
          <a:ln>
            <a:solidFill>
              <a:srgbClr val="5C3A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66160" y="173736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4783A"/>
                </a:solidFill>
                <a:latin typeface="Calibri"/>
              </a:defRPr>
            </a:pPr>
            <a:r>
              <a:t>Peak night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6160" y="228600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D4A017"/>
                </a:solidFill>
                <a:latin typeface="Calibri"/>
              </a:defRPr>
            </a:pPr>
            <a:r>
              <a:t>192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6160" y="3291840"/>
            <a:ext cx="2377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AF6F0"/>
                </a:solidFill>
                <a:latin typeface="Calibri"/>
              </a:defRPr>
            </a:pPr>
            <a:r>
              <a:t>DD + GH + LIVE that night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9360" y="1463040"/>
            <a:ext cx="2743200" cy="2926080"/>
          </a:xfrm>
          <a:prstGeom prst="roundRect">
            <a:avLst/>
          </a:prstGeom>
          <a:solidFill>
            <a:srgbClr val="3F2818"/>
          </a:solidFill>
          <a:ln>
            <a:solidFill>
              <a:srgbClr val="5C3A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2240" y="173736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4783A"/>
                </a:solidFill>
                <a:latin typeface="Calibri"/>
              </a:defRPr>
            </a:pPr>
            <a:r>
              <a:t>DD + GH W1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228600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D4A017"/>
                </a:solidFill>
                <a:latin typeface="Calibri"/>
              </a:defRPr>
            </a:pPr>
            <a:r>
              <a:t>273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3291840"/>
            <a:ext cx="2377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AF6F0"/>
                </a:solidFill>
                <a:latin typeface="Calibri"/>
              </a:defRPr>
            </a:pPr>
            <a:r>
              <a:t>DD 179 · GH 94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235440" y="1463040"/>
            <a:ext cx="2743200" cy="2926080"/>
          </a:xfrm>
          <a:prstGeom prst="roundRect">
            <a:avLst/>
          </a:prstGeom>
          <a:solidFill>
            <a:srgbClr val="3F2818"/>
          </a:solidFill>
          <a:ln>
            <a:solidFill>
              <a:srgbClr val="5C3A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18320" y="173736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4783A"/>
                </a:solidFill>
                <a:latin typeface="Calibri"/>
              </a:defRPr>
            </a:pPr>
            <a:r>
              <a:t>Ads weeks 1–4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18320" y="228600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D4A017"/>
                </a:solidFill>
                <a:latin typeface="Calibri"/>
              </a:defRPr>
            </a:pPr>
            <a:r>
              <a:t>$3,100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18320" y="3291840"/>
            <a:ext cx="2377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AF6F0"/>
                </a:solidFill>
                <a:latin typeface="Calibri"/>
              </a:defRPr>
            </a:pPr>
            <a:r>
              <a:t>→ 1488 plates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47548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9B8A8"/>
                </a:solidFill>
                <a:latin typeface="Calibri"/>
              </a:defRPr>
            </a:pPr>
            <a:r>
              <a:t>Hire aggressively for the drop (~50 help hrs/wk launch). lost_demand shows when demand &gt; kitchen throughput.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A18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9B8A8"/>
                </a:solidFill>
                <a:latin typeface="Calibri"/>
              </a:defRPr>
            </a:pPr>
            <a:r>
              <a:t>Illustrative model · Not financial advice · Sep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D4A017"/>
                </a:solidFill>
                <a:latin typeface="Calibri"/>
              </a:defRPr>
            </a:pPr>
            <a:r>
              <a:t>Everyday is a play — weekends bear more yield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097280"/>
            <a:ext cx="5303520" cy="4114800"/>
          </a:xfrm>
          <a:prstGeom prst="roundRect">
            <a:avLst/>
          </a:prstGeom>
          <a:solidFill>
            <a:srgbClr val="3F2818"/>
          </a:solidFill>
          <a:ln>
            <a:solidFill>
              <a:srgbClr val="5C3A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37160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D4A017"/>
                </a:solidFill>
                <a:latin typeface="Calibri"/>
              </a:defRPr>
            </a:pPr>
            <a:r>
              <a:t>Week-1 daypart (mid)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01168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AF6F0"/>
                </a:solidFill>
                <a:latin typeface="Calibri"/>
              </a:defRPr>
            </a:pPr>
            <a:r>
              <a:t>Weekday (Mon–Thu):  216 plates  (~45%)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65176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AF6F0"/>
                </a:solidFill>
                <a:latin typeface="Calibri"/>
              </a:defRPr>
            </a:pPr>
            <a:r>
              <a:t>Weekend (Fri–Sun):  264 plates  (~55%)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29184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AF6F0"/>
                </a:solidFill>
                <a:latin typeface="Calibri"/>
              </a:defRPr>
            </a:pPr>
            <a:r>
              <a:t>Peak night orders:  192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023360"/>
            <a:ext cx="4754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9B8A8"/>
                </a:solidFill>
                <a:latin typeface="Calibri"/>
              </a:defRPr>
            </a:pPr>
            <a:r>
              <a:t>Service nights/week: 7  ·  7-day ops in launch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097280"/>
            <a:ext cx="5394960" cy="4114800"/>
          </a:xfrm>
          <a:prstGeom prst="roundRect">
            <a:avLst/>
          </a:prstGeom>
          <a:solidFill>
            <a:srgbClr val="3F2818"/>
          </a:solidFill>
          <a:ln>
            <a:solidFill>
              <a:srgbClr val="5C3A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137160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D4A017"/>
                </a:solidFill>
                <a:latin typeface="Calibri"/>
              </a:defRPr>
            </a:pPr>
            <a:r>
              <a:t>Why weekends win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2011680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AF6F0"/>
                </a:solidFill>
                <a:latin typeface="Calibri"/>
              </a:defRPr>
            </a:pPr>
            <a:r>
              <a:t>▸  Fri–Sat LIVE drops + marketplace dinner rush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2651760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AF6F0"/>
                </a:solidFill>
                <a:latin typeface="Calibri"/>
              </a:defRPr>
            </a:pPr>
            <a:r>
              <a:t>▸  Soul food occasion demand spikes evenings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3291840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AF6F0"/>
                </a:solidFill>
                <a:latin typeface="Calibri"/>
              </a:defRPr>
            </a:pPr>
            <a:r>
              <a:t>▸  Ad budget weighted into weekend flights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3931920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AF6F0"/>
                </a:solidFill>
                <a:latin typeface="Calibri"/>
              </a:defRPr>
            </a:pPr>
            <a:r>
              <a:t>▸  Prep crew sized for peak-night fryer batches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A18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9B8A8"/>
                </a:solidFill>
                <a:latin typeface="Calibri"/>
              </a:defRPr>
            </a:pPr>
            <a:r>
              <a:t>Illustrative model · Not financial advice · Sep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D4A017"/>
                </a:solidFill>
                <a:latin typeface="Calibri"/>
              </a:defRPr>
            </a:pPr>
            <a:r>
              <a:t>Unit economics — itemized COGS → $3.70 food mid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0584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AF6F0"/>
                </a:solidFill>
                <a:latin typeface="Calibri"/>
              </a:defRPr>
            </a:pPr>
            <a:r>
              <a:t>Chicken 2pc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74720" y="100584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D4A017"/>
                </a:solidFill>
                <a:latin typeface="Calibri"/>
              </a:defRPr>
            </a:pPr>
            <a:r>
              <a:t>$0.59</a:t>
            </a:r>
          </a:p>
        </p:txBody>
      </p:sp>
      <p:sp>
        <p:nvSpPr>
          <p:cNvPr id="7" name="Rectangle 6"/>
          <p:cNvSpPr/>
          <p:nvPr/>
        </p:nvSpPr>
        <p:spPr>
          <a:xfrm>
            <a:off x="4754880" y="1051560"/>
            <a:ext cx="1049830" cy="256032"/>
          </a:xfrm>
          <a:prstGeom prst="rect">
            <a:avLst/>
          </a:prstGeom>
          <a:solidFill>
            <a:srgbClr val="C47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64592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AF6F0"/>
                </a:solidFill>
                <a:latin typeface="Calibri"/>
              </a:defRPr>
            </a:pPr>
            <a:r>
              <a:t>Greens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74720" y="164592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D4A017"/>
                </a:solidFill>
                <a:latin typeface="Calibri"/>
              </a:defRPr>
            </a:pPr>
            <a:r>
              <a:t>$0.85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54880" y="1691640"/>
            <a:ext cx="1512467" cy="256032"/>
          </a:xfrm>
          <a:prstGeom prst="rect">
            <a:avLst/>
          </a:prstGeom>
          <a:solidFill>
            <a:srgbClr val="C47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228600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AF6F0"/>
                </a:solidFill>
                <a:latin typeface="Calibri"/>
              </a:defRPr>
            </a:pPr>
            <a:r>
              <a:t>Sweet potatoes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74720" y="228600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D4A017"/>
                </a:solidFill>
                <a:latin typeface="Calibri"/>
              </a:defRPr>
            </a:pPr>
            <a:r>
              <a:t>$0.70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754880" y="2331720"/>
            <a:ext cx="1245561" cy="256032"/>
          </a:xfrm>
          <a:prstGeom prst="rect">
            <a:avLst/>
          </a:prstGeom>
          <a:solidFill>
            <a:srgbClr val="C47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292608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AF6F0"/>
                </a:solidFill>
                <a:latin typeface="Calibri"/>
              </a:defRPr>
            </a:pPr>
            <a:r>
              <a:t>Dinner roll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74720" y="292608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D4A017"/>
                </a:solidFill>
                <a:latin typeface="Calibri"/>
              </a:defRPr>
            </a:pPr>
            <a:r>
              <a:t>$0.25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754880" y="2971800"/>
            <a:ext cx="444843" cy="256032"/>
          </a:xfrm>
          <a:prstGeom prst="rect">
            <a:avLst/>
          </a:prstGeom>
          <a:solidFill>
            <a:srgbClr val="C47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356616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AF6F0"/>
                </a:solidFill>
                <a:latin typeface="Calibri"/>
              </a:defRPr>
            </a:pPr>
            <a:r>
              <a:t>Oil/bread/season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74720" y="356616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D4A017"/>
                </a:solidFill>
                <a:latin typeface="Calibri"/>
              </a:defRPr>
            </a:pPr>
            <a:r>
              <a:t>$0.62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754880" y="3611880"/>
            <a:ext cx="1103211" cy="256032"/>
          </a:xfrm>
          <a:prstGeom prst="rect">
            <a:avLst/>
          </a:prstGeom>
          <a:solidFill>
            <a:srgbClr val="C47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420624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AF6F0"/>
                </a:solidFill>
                <a:latin typeface="Calibri"/>
              </a:defRPr>
            </a:pPr>
            <a:r>
              <a:t>Yield/waste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74720" y="420624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D4A017"/>
                </a:solidFill>
                <a:latin typeface="Calibri"/>
              </a:defRPr>
            </a:pPr>
            <a:r>
              <a:t>$0.69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754880" y="4251960"/>
            <a:ext cx="1227767" cy="256032"/>
          </a:xfrm>
          <a:prstGeom prst="rect">
            <a:avLst/>
          </a:prstGeom>
          <a:solidFill>
            <a:srgbClr val="C47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" y="50292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9B8A8"/>
                </a:solidFill>
                <a:latin typeface="Calibri"/>
              </a:defRPr>
            </a:pPr>
            <a:r>
              <a:t>Pack +$0.44  ·  Local $20 − $3.70 ≈ $16.30 contribution before fees  ·  Source: cogs-and-pricing.csv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A18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9B8A8"/>
                </a:solidFill>
                <a:latin typeface="Calibri"/>
              </a:defRPr>
            </a:pPr>
            <a:r>
              <a:t>Illustrative model · Not financial advice · Sep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D4A017"/>
                </a:solidFill>
                <a:latin typeface="Calibri"/>
              </a:defRPr>
            </a:pPr>
            <a:r>
              <a:t>Channel mix &amp; contribution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960120"/>
            <a:ext cx="11064240" cy="868680"/>
          </a:xfrm>
          <a:prstGeom prst="roundRect">
            <a:avLst/>
          </a:prstGeom>
          <a:solidFill>
            <a:srgbClr val="3F2818"/>
          </a:solidFill>
          <a:ln>
            <a:solidFill>
              <a:srgbClr val="5C3A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1430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D4A017"/>
                </a:solidFill>
                <a:latin typeface="Calibri"/>
              </a:defRPr>
            </a:pPr>
            <a:r>
              <a:t>Pickup / LIVE $20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0" y="11430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C4783A"/>
                </a:solidFill>
                <a:latin typeface="Calibri"/>
              </a:defRPr>
            </a:pPr>
            <a:r>
              <a:t>~$16.30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0" y="114300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AF6F0"/>
                </a:solidFill>
                <a:latin typeface="Calibri"/>
              </a:defRPr>
            </a:pPr>
            <a:r>
              <a:t>Best net after COGS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920240"/>
            <a:ext cx="11064240" cy="868680"/>
          </a:xfrm>
          <a:prstGeom prst="roundRect">
            <a:avLst/>
          </a:prstGeom>
          <a:solidFill>
            <a:srgbClr val="3F2818"/>
          </a:solidFill>
          <a:ln>
            <a:solidFill>
              <a:srgbClr val="5C3A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1031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D4A017"/>
                </a:solidFill>
                <a:latin typeface="Calibri"/>
              </a:defRPr>
            </a:pPr>
            <a:r>
              <a:t>Local delivery $20+$12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0" y="21031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C4783A"/>
                </a:solidFill>
                <a:latin typeface="Calibri"/>
              </a:defRPr>
            </a:pPr>
            <a:r>
              <a:t>Strong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0" y="210312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AF6F0"/>
                </a:solidFill>
                <a:latin typeface="Calibri"/>
              </a:defRPr>
            </a:pPr>
            <a:r>
              <a:t>Drive ~$9.95 covered by fee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2880360"/>
            <a:ext cx="11064240" cy="868680"/>
          </a:xfrm>
          <a:prstGeom prst="roundRect">
            <a:avLst/>
          </a:prstGeom>
          <a:solidFill>
            <a:srgbClr val="3F2818"/>
          </a:solidFill>
          <a:ln>
            <a:solidFill>
              <a:srgbClr val="5C3A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30632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D4A017"/>
                </a:solidFill>
                <a:latin typeface="Calibri"/>
              </a:defRPr>
            </a:pPr>
            <a:r>
              <a:t>DoorDash $26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0" y="30632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C4783A"/>
                </a:solidFill>
                <a:latin typeface="Calibri"/>
              </a:defRPr>
            </a:pPr>
            <a:r>
              <a:t>~15 after 25%+bonus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0" y="306324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AF6F0"/>
                </a:solidFill>
                <a:latin typeface="Calibri"/>
              </a:defRPr>
            </a:pPr>
            <a:r>
              <a:t>Acquisition + scale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3840480"/>
            <a:ext cx="11064240" cy="868680"/>
          </a:xfrm>
          <a:prstGeom prst="roundRect">
            <a:avLst/>
          </a:prstGeom>
          <a:solidFill>
            <a:srgbClr val="3F2818"/>
          </a:solidFill>
          <a:ln>
            <a:solidFill>
              <a:srgbClr val="5C3A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40233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D4A017"/>
                </a:solidFill>
                <a:latin typeface="Calibri"/>
              </a:defRPr>
            </a:pPr>
            <a:r>
              <a:t>Grubhub $26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0" y="40233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C4783A"/>
                </a:solidFill>
                <a:latin typeface="Calibri"/>
              </a:defRPr>
            </a:pPr>
            <a:r>
              <a:t>~27% fee mid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03920" y="402336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AF6F0"/>
                </a:solidFill>
                <a:latin typeface="Calibri"/>
              </a:defRPr>
            </a:pPr>
            <a:r>
              <a:t>Paired with DD on drop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4800600"/>
            <a:ext cx="11064240" cy="868680"/>
          </a:xfrm>
          <a:prstGeom prst="roundRect">
            <a:avLst/>
          </a:prstGeom>
          <a:solidFill>
            <a:srgbClr val="3F2818"/>
          </a:solidFill>
          <a:ln>
            <a:solidFill>
              <a:srgbClr val="5C3A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49834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D4A017"/>
                </a:solidFill>
                <a:latin typeface="Calibri"/>
              </a:defRPr>
            </a:pPr>
            <a:r>
              <a:t>Overnight $20+$65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9280" y="49834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C4783A"/>
                </a:solidFill>
                <a:latin typeface="Calibri"/>
              </a:defRPr>
            </a:pPr>
            <a:r>
              <a:t>~$4.53 net mid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03920" y="498348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AF6F0"/>
                </a:solidFill>
                <a:latin typeface="Calibri"/>
              </a:defRPr>
            </a:pPr>
            <a:r>
              <a:t>National reach, thin $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A18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9B8A8"/>
                </a:solidFill>
                <a:latin typeface="Calibri"/>
              </a:defRPr>
            </a:pPr>
            <a:r>
              <a:t>Illustrative model · Not financial advice · Sep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D4A017"/>
                </a:solidFill>
                <a:latin typeface="Calibri"/>
              </a:defRPr>
            </a:pPr>
            <a:r>
              <a:t>Week-for-week simulator snapshot (mobile mid)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1440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C4783A"/>
                </a:solidFill>
                <a:latin typeface="Calibri"/>
              </a:defRPr>
            </a:pPr>
            <a:r>
              <a:t>Week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468880" y="91440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C4783A"/>
                </a:solidFill>
                <a:latin typeface="Calibri"/>
              </a:defRPr>
            </a:pPr>
            <a:r>
              <a:t>Demand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91440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C4783A"/>
                </a:solidFill>
                <a:latin typeface="Calibri"/>
              </a:defRPr>
            </a:pPr>
            <a:r>
              <a:t>Fulfilled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0" y="91440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C4783A"/>
                </a:solidFill>
                <a:latin typeface="Calibri"/>
              </a:defRPr>
            </a:pPr>
            <a:r>
              <a:t>Peak night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0" y="91440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C4783A"/>
                </a:solidFill>
                <a:latin typeface="Calibri"/>
              </a:defRPr>
            </a:pPr>
            <a:r>
              <a:t>DD+GH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149840" y="91440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C4783A"/>
                </a:solidFill>
                <a:latin typeface="Calibri"/>
              </a:defRPr>
            </a:pPr>
            <a:r>
              <a:t>Net cash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1280160"/>
            <a:ext cx="11247120" cy="685800"/>
          </a:xfrm>
          <a:prstGeom prst="roundRect">
            <a:avLst/>
          </a:prstGeom>
          <a:solidFill>
            <a:srgbClr val="352214"/>
          </a:solidFill>
          <a:ln>
            <a:solidFill>
              <a:srgbClr val="5C3A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14630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AF6F0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68880" y="14630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AF6F0"/>
                </a:solidFill>
                <a:latin typeface="Calibri"/>
              </a:defRPr>
            </a:pPr>
            <a:r>
              <a:t>480.0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20" y="14630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AF6F0"/>
                </a:solidFill>
                <a:latin typeface="Calibri"/>
              </a:defRPr>
            </a:pPr>
            <a:r>
              <a:t>480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0" y="14630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AF6F0"/>
                </a:solidFill>
                <a:latin typeface="Calibri"/>
              </a:defRPr>
            </a:pPr>
            <a:r>
              <a:t>192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0" y="14630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AF6F0"/>
                </a:solidFill>
                <a:latin typeface="Calibri"/>
              </a:defRPr>
            </a:pPr>
            <a:r>
              <a:t>273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149840" y="14630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AF6F0"/>
                </a:solidFill>
                <a:latin typeface="Calibri"/>
              </a:defRPr>
            </a:pPr>
            <a:r>
              <a:t>$3,946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2057400"/>
            <a:ext cx="11247120" cy="685800"/>
          </a:xfrm>
          <a:prstGeom prst="roundRect">
            <a:avLst/>
          </a:prstGeom>
          <a:solidFill>
            <a:srgbClr val="352214"/>
          </a:solidFill>
          <a:ln>
            <a:solidFill>
              <a:srgbClr val="5C3A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22402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AF6F0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468880" y="22402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AF6F0"/>
                </a:solidFill>
                <a:latin typeface="Calibri"/>
              </a:defRPr>
            </a:pPr>
            <a:r>
              <a:t>249.6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89120" y="22402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AF6F0"/>
                </a:solidFill>
                <a:latin typeface="Calibri"/>
              </a:defRPr>
            </a:pPr>
            <a:r>
              <a:t>250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9360" y="22402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AF6F0"/>
                </a:solidFill>
                <a:latin typeface="Calibri"/>
              </a:defRPr>
            </a:pPr>
            <a:r>
              <a:t>100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0" y="22402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AF6F0"/>
                </a:solidFill>
                <a:latin typeface="Calibri"/>
              </a:defRPr>
            </a:pPr>
            <a:r>
              <a:t>136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149840" y="22402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AF6F0"/>
                </a:solidFill>
                <a:latin typeface="Calibri"/>
              </a:defRPr>
            </a:pPr>
            <a:r>
              <a:t>$1,701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7200" y="2834640"/>
            <a:ext cx="11247120" cy="685800"/>
          </a:xfrm>
          <a:prstGeom prst="roundRect">
            <a:avLst/>
          </a:prstGeom>
          <a:solidFill>
            <a:srgbClr val="352214"/>
          </a:solidFill>
          <a:ln>
            <a:solidFill>
              <a:srgbClr val="5C3A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48640" y="30175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AF6F0"/>
                </a:solidFill>
                <a:latin typeface="Calibri"/>
              </a:defRPr>
            </a:pPr>
            <a:r>
              <a:t>12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468880" y="30175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AF6F0"/>
                </a:solidFill>
                <a:latin typeface="Calibri"/>
              </a:defRPr>
            </a:pPr>
            <a:r>
              <a:t>248.88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89120" y="30175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AF6F0"/>
                </a:solidFill>
                <a:latin typeface="Calibri"/>
              </a:defRPr>
            </a:pPr>
            <a:r>
              <a:t>249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09360" y="30175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AF6F0"/>
                </a:solidFill>
                <a:latin typeface="Calibri"/>
              </a:defRPr>
            </a:pPr>
            <a:r>
              <a:t>100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0" y="30175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AF6F0"/>
                </a:solidFill>
                <a:latin typeface="Calibri"/>
              </a:defRPr>
            </a:pPr>
            <a:r>
              <a:t>124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149840" y="30175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AF6F0"/>
                </a:solidFill>
                <a:latin typeface="Calibri"/>
              </a:defRPr>
            </a:pPr>
            <a:r>
              <a:t>$2,376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57200" y="3611879"/>
            <a:ext cx="11247120" cy="685800"/>
          </a:xfrm>
          <a:prstGeom prst="roundRect">
            <a:avLst/>
          </a:prstGeom>
          <a:solidFill>
            <a:srgbClr val="352214"/>
          </a:solidFill>
          <a:ln>
            <a:solidFill>
              <a:srgbClr val="5C3A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48640" y="3794759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AF6F0"/>
                </a:solidFill>
                <a:latin typeface="Calibri"/>
              </a:defRPr>
            </a:pPr>
            <a:r>
              <a:t>26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468880" y="3794759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AF6F0"/>
                </a:solidFill>
                <a:latin typeface="Calibri"/>
              </a:defRPr>
            </a:pPr>
            <a:r>
              <a:t>334.92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389120" y="3794759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AF6F0"/>
                </a:solidFill>
                <a:latin typeface="Calibri"/>
              </a:defRPr>
            </a:pPr>
            <a:r>
              <a:t>335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09360" y="3794759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AF6F0"/>
                </a:solidFill>
                <a:latin typeface="Calibri"/>
              </a:defRPr>
            </a:pPr>
            <a:r>
              <a:t>123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29600" y="3794759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AF6F0"/>
                </a:solidFill>
                <a:latin typeface="Calibri"/>
              </a:defRPr>
            </a:pPr>
            <a:r>
              <a:t>147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149840" y="3794759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AF6F0"/>
                </a:solidFill>
                <a:latin typeface="Calibri"/>
              </a:defRPr>
            </a:pPr>
            <a:r>
              <a:t>$3,709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57200" y="4389120"/>
            <a:ext cx="11247120" cy="685800"/>
          </a:xfrm>
          <a:prstGeom prst="roundRect">
            <a:avLst/>
          </a:prstGeom>
          <a:solidFill>
            <a:srgbClr val="352214"/>
          </a:solidFill>
          <a:ln>
            <a:solidFill>
              <a:srgbClr val="5C3A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48640" y="45720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AF6F0"/>
                </a:solidFill>
                <a:latin typeface="Calibri"/>
              </a:defRPr>
            </a:pPr>
            <a:r>
              <a:t>52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468880" y="45720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AF6F0"/>
                </a:solidFill>
                <a:latin typeface="Calibri"/>
              </a:defRPr>
            </a:pPr>
            <a:r>
              <a:t>377.6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389120" y="45720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AF6F0"/>
                </a:solidFill>
                <a:latin typeface="Calibri"/>
              </a:defRPr>
            </a:pPr>
            <a:r>
              <a:t>378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309360" y="45720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AF6F0"/>
                </a:solidFill>
                <a:latin typeface="Calibri"/>
              </a:defRPr>
            </a:pPr>
            <a:r>
              <a:t>123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229600" y="45720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AF6F0"/>
                </a:solidFill>
                <a:latin typeface="Calibri"/>
              </a:defRPr>
            </a:pPr>
            <a:r>
              <a:t>159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149840" y="45720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AF6F0"/>
                </a:solidFill>
                <a:latin typeface="Calibri"/>
              </a:defRPr>
            </a:pPr>
            <a:r>
              <a:t>$4,180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A18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9B8A8"/>
                </a:solidFill>
                <a:latin typeface="Calibri"/>
              </a:defRPr>
            </a:pPr>
            <a:r>
              <a:t>Illustrative model · Not financial advice · Sep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D4A017"/>
                </a:solidFill>
                <a:latin typeface="Calibri"/>
              </a:defRPr>
            </a:pPr>
            <a:r>
              <a:t>Mobile vs fixed location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005840"/>
            <a:ext cx="5486400" cy="4572000"/>
          </a:xfrm>
          <a:prstGeom prst="roundRect">
            <a:avLst/>
          </a:prstGeom>
          <a:solidFill>
            <a:srgbClr val="3F2818"/>
          </a:solidFill>
          <a:ln>
            <a:solidFill>
              <a:srgbClr val="5C3A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23444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D4A017"/>
                </a:solidFill>
                <a:latin typeface="Calibri"/>
              </a:defRPr>
            </a:pPr>
            <a:r>
              <a:t>Mobile / drop path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828800"/>
            <a:ext cx="49377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AF6F0"/>
                </a:solidFill>
                <a:latin typeface="Calibri"/>
              </a:defRPr>
            </a:pPr>
            <a:r>
              <a:t>M6 net cash $15,718</a:t>
            </a:r>
            <a:br/>
            <a:r>
              <a:t>M12 net cash $16,667</a:t>
            </a:r>
            <a:br/>
            <a:br/>
            <a:r>
              <a:t>Hire hard for launch.</a:t>
            </a:r>
            <a:br/>
            <a:r>
              <a:t>No rent line.</a:t>
            </a:r>
            <a:br/>
            <a:r>
              <a:t>Capacity soft-ceiling after drop.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005840"/>
            <a:ext cx="5486400" cy="4572000"/>
          </a:xfrm>
          <a:prstGeom prst="roundRect">
            <a:avLst/>
          </a:prstGeom>
          <a:solidFill>
            <a:srgbClr val="3F2818"/>
          </a:solidFill>
          <a:ln>
            <a:solidFill>
              <a:srgbClr val="5C3A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23444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D4A017"/>
                </a:solidFill>
                <a:latin typeface="Calibri"/>
              </a:defRPr>
            </a:pPr>
            <a:r>
              <a:t>Lease-when-gated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1828800"/>
            <a:ext cx="49377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AF6F0"/>
                </a:solidFill>
                <a:latin typeface="Calibri"/>
              </a:defRPr>
            </a:pPr>
            <a:r>
              <a:t>Lease gate week: 8</a:t>
            </a:r>
            <a:br/>
            <a:r>
              <a:t>(demand ≥160/wk × 8 weeks</a:t>
            </a:r>
            <a:br/>
            <a:r>
              <a:t>+ cash ≥ 3 months rent ≈ $11,700)</a:t>
            </a:r>
            <a:br/>
            <a:br/>
            <a:r>
              <a:t>M6 net $7,145</a:t>
            </a:r>
            <a:br/>
            <a:r>
              <a:t>M12 net $8,736</a:t>
            </a:r>
            <a:br/>
            <a:br/>
            <a:r>
              <a:t>Rent+utils ~$3,900/mo mid SoCal.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A18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9B8A8"/>
                </a:solidFill>
                <a:latin typeface="Calibri"/>
              </a:defRPr>
            </a:pPr>
            <a:r>
              <a:t>Illustrative model · Not financial advice · Sep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D4A017"/>
                </a:solidFill>
                <a:latin typeface="Calibri"/>
              </a:defRPr>
            </a:pPr>
            <a:r>
              <a:t>Growth engines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005840"/>
            <a:ext cx="3657600" cy="2194560"/>
          </a:xfrm>
          <a:prstGeom prst="roundRect">
            <a:avLst/>
          </a:prstGeom>
          <a:solidFill>
            <a:srgbClr val="3F2818"/>
          </a:solidFill>
          <a:ln>
            <a:solidFill>
              <a:srgbClr val="5C3A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32588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D4A017"/>
                </a:solidFill>
                <a:latin typeface="Calibri"/>
              </a:defRPr>
            </a:pPr>
            <a:r>
              <a:t>Happy Hour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920240"/>
            <a:ext cx="3200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AF6F0"/>
                </a:solidFill>
                <a:latin typeface="Calibri"/>
              </a:defRPr>
            </a:pPr>
            <a:r>
              <a:t>Half-off / spin EV ~$0.56 — incremental plates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0" y="1005840"/>
            <a:ext cx="3657600" cy="2194560"/>
          </a:xfrm>
          <a:prstGeom prst="roundRect">
            <a:avLst/>
          </a:prstGeom>
          <a:solidFill>
            <a:srgbClr val="3F2818"/>
          </a:solidFill>
          <a:ln>
            <a:solidFill>
              <a:srgbClr val="5C3A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26280" y="132588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D4A017"/>
                </a:solidFill>
                <a:latin typeface="Calibri"/>
              </a:defRPr>
            </a:pPr>
            <a:r>
              <a:t>Plate Club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26280" y="1920240"/>
            <a:ext cx="3200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AF6F0"/>
                </a:solidFill>
                <a:latin typeface="Calibri"/>
              </a:defRPr>
            </a:pPr>
            <a:r>
              <a:t>Half-off @ $10; ~$6.30 contrib at mid COGS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38160" y="1005840"/>
            <a:ext cx="3657600" cy="2194560"/>
          </a:xfrm>
          <a:prstGeom prst="roundRect">
            <a:avLst/>
          </a:prstGeom>
          <a:solidFill>
            <a:srgbClr val="3F2818"/>
          </a:solidFill>
          <a:ln>
            <a:solidFill>
              <a:srgbClr val="5C3A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66760" y="132588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D4A017"/>
                </a:solidFill>
                <a:latin typeface="Calibri"/>
              </a:defRPr>
            </a:pPr>
            <a:r>
              <a:t>Rewards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66760" y="1920240"/>
            <a:ext cx="3200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AF6F0"/>
                </a:solidFill>
                <a:latin typeface="Calibri"/>
              </a:defRPr>
            </a:pPr>
            <a:r>
              <a:t>5th→75% off next; loyalty tax ~12.5%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474720"/>
            <a:ext cx="3657600" cy="2194560"/>
          </a:xfrm>
          <a:prstGeom prst="roundRect">
            <a:avLst/>
          </a:prstGeom>
          <a:solidFill>
            <a:srgbClr val="3F2818"/>
          </a:solidFill>
          <a:ln>
            <a:solidFill>
              <a:srgbClr val="5C3A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379476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D4A017"/>
                </a:solidFill>
                <a:latin typeface="Calibri"/>
              </a:defRPr>
            </a:pPr>
            <a:r>
              <a:t>Overnight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4389120"/>
            <a:ext cx="3200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AF6F0"/>
                </a:solidFill>
                <a:latin typeface="Calibri"/>
              </a:defRPr>
            </a:pPr>
            <a:r>
              <a:t>$20+$65; ~$4.53 net — national reach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97680" y="3474720"/>
            <a:ext cx="3657600" cy="2194560"/>
          </a:xfrm>
          <a:prstGeom prst="roundRect">
            <a:avLst/>
          </a:prstGeom>
          <a:solidFill>
            <a:srgbClr val="3F2818"/>
          </a:solidFill>
          <a:ln>
            <a:solidFill>
              <a:srgbClr val="5C3A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26280" y="379476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D4A017"/>
                </a:solidFill>
                <a:latin typeface="Calibri"/>
              </a:defRPr>
            </a:pPr>
            <a:r>
              <a:t>LIVE flywheel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26280" y="4389120"/>
            <a:ext cx="3200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AF6F0"/>
                </a:solidFill>
                <a:latin typeface="Calibri"/>
              </a:defRPr>
            </a:pPr>
            <a:r>
              <a:t>Content → pay → UGC → monetize → club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38160" y="3474720"/>
            <a:ext cx="3657600" cy="2194560"/>
          </a:xfrm>
          <a:prstGeom prst="roundRect">
            <a:avLst/>
          </a:prstGeom>
          <a:solidFill>
            <a:srgbClr val="3F2818"/>
          </a:solidFill>
          <a:ln>
            <a:solidFill>
              <a:srgbClr val="5C3A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66760" y="379476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D4A017"/>
                </a:solidFill>
                <a:latin typeface="Calibri"/>
              </a:defRPr>
            </a:pPr>
            <a:r>
              <a:t>Bottled drinks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66760" y="4389120"/>
            <a:ext cx="3200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AF6F0"/>
                </a:solidFill>
                <a:latin typeface="Calibri"/>
              </a:defRPr>
            </a:pPr>
            <a:r>
              <a:t>Later attach ~$3.50 / $0.80 COGS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A18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9B8A8"/>
                </a:solidFill>
                <a:latin typeface="Calibri"/>
              </a:defRPr>
            </a:pPr>
            <a:r>
              <a:t>Illustrative model · Not financial advice · Sep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D4A017"/>
                </a:solidFill>
                <a:latin typeface="Calibri"/>
              </a:defRPr>
            </a:pPr>
            <a:r>
              <a:t>12-month trajectory (illustrative)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188720"/>
            <a:ext cx="3566160" cy="3200400"/>
          </a:xfrm>
          <a:prstGeom prst="roundRect">
            <a:avLst/>
          </a:prstGeom>
          <a:solidFill>
            <a:srgbClr val="3F2818"/>
          </a:solidFill>
          <a:ln>
            <a:solidFill>
              <a:srgbClr val="5C3A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46304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4783A"/>
                </a:solidFill>
                <a:latin typeface="Calibri"/>
              </a:defRPr>
            </a:pPr>
            <a:r>
              <a:t>Month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103120"/>
            <a:ext cx="3017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D4A017"/>
                </a:solidFill>
                <a:latin typeface="Calibri"/>
              </a:defRPr>
            </a:pPr>
            <a:r>
              <a:t>$12,573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01752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9B8A8"/>
                </a:solidFill>
                <a:latin typeface="Calibri"/>
              </a:defRPr>
            </a:pPr>
            <a:r>
              <a:t>Mobile net cash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65760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AF6F0"/>
                </a:solidFill>
                <a:latin typeface="Calibri"/>
              </a:defRPr>
            </a:pPr>
            <a:r>
              <a:t>1,571 plates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188720"/>
            <a:ext cx="3566160" cy="3200400"/>
          </a:xfrm>
          <a:prstGeom prst="roundRect">
            <a:avLst/>
          </a:prstGeom>
          <a:solidFill>
            <a:srgbClr val="3F2818"/>
          </a:solidFill>
          <a:ln>
            <a:solidFill>
              <a:srgbClr val="5C3A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63440" y="146304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4783A"/>
                </a:solidFill>
                <a:latin typeface="Calibri"/>
              </a:defRPr>
            </a:pPr>
            <a:r>
              <a:t>Month 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2103120"/>
            <a:ext cx="3017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D4A017"/>
                </a:solidFill>
                <a:latin typeface="Calibri"/>
              </a:defRPr>
            </a:pPr>
            <a:r>
              <a:t>$15,718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301752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9B8A8"/>
                </a:solidFill>
                <a:latin typeface="Calibri"/>
              </a:defRPr>
            </a:pPr>
            <a:r>
              <a:t>Mobile net cash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3440" y="365760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AF6F0"/>
                </a:solidFill>
                <a:latin typeface="Calibri"/>
              </a:defRPr>
            </a:pPr>
            <a:r>
              <a:t>1,422 plates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38159" y="1188720"/>
            <a:ext cx="3566160" cy="3200400"/>
          </a:xfrm>
          <a:prstGeom prst="roundRect">
            <a:avLst/>
          </a:prstGeom>
          <a:solidFill>
            <a:srgbClr val="3F2818"/>
          </a:solidFill>
          <a:ln>
            <a:solidFill>
              <a:srgbClr val="5C3A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12480" y="146304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4783A"/>
                </a:solidFill>
                <a:latin typeface="Calibri"/>
              </a:defRPr>
            </a:pPr>
            <a:r>
              <a:t>Month 12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0" y="2103120"/>
            <a:ext cx="3017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D4A017"/>
                </a:solidFill>
                <a:latin typeface="Calibri"/>
              </a:defRPr>
            </a:pPr>
            <a:r>
              <a:t>$16,667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0" y="301752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9B8A8"/>
                </a:solidFill>
                <a:latin typeface="Calibri"/>
              </a:defRPr>
            </a:pPr>
            <a:r>
              <a:t>Mobile net cash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0" y="365760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AF6F0"/>
                </a:solidFill>
                <a:latin typeface="Calibri"/>
              </a:defRPr>
            </a:pPr>
            <a:r>
              <a:t>1,509 plates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48463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9B8A8"/>
                </a:solidFill>
                <a:latin typeface="Calibri"/>
              </a:defRPr>
            </a:pPr>
            <a:r>
              <a:t>Ask-ready: unit economics on drop · marketplace SKUs live · lease only after gate. Model outputs, not forecasts.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A18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9B8A8"/>
                </a:solidFill>
                <a:latin typeface="Calibri"/>
              </a:defRPr>
            </a:pPr>
            <a:r>
              <a:t>Illustrative model · Not financial advice · Sep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D4A017"/>
                </a:solidFill>
                <a:latin typeface="Calibri"/>
              </a:defRPr>
            </a:pPr>
            <a:r>
              <a:t>Roadmap: pop → ship → club → kitchen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051560"/>
            <a:ext cx="11064240" cy="1051560"/>
          </a:xfrm>
          <a:prstGeom prst="roundRect">
            <a:avLst/>
          </a:prstGeom>
          <a:solidFill>
            <a:srgbClr val="3F2818"/>
          </a:solidFill>
          <a:ln>
            <a:solidFill>
              <a:srgbClr val="5C3A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2801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D4A017"/>
                </a:solidFill>
                <a:latin typeface="Calibri"/>
              </a:defRPr>
            </a:pPr>
            <a:r>
              <a:t>1 · Pop / Drop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0" y="1325880"/>
            <a:ext cx="7132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AF6F0"/>
                </a:solidFill>
                <a:latin typeface="Calibri"/>
              </a:defRPr>
            </a:pPr>
            <a:r>
              <a:t>Day-one ads + DD/GH + LIVE. Peak nights. Itemized COGS locked.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240280"/>
            <a:ext cx="11064240" cy="1051560"/>
          </a:xfrm>
          <a:prstGeom prst="roundRect">
            <a:avLst/>
          </a:prstGeom>
          <a:solidFill>
            <a:srgbClr val="3F2818"/>
          </a:solidFill>
          <a:ln>
            <a:solidFill>
              <a:srgbClr val="5C3A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4688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D4A017"/>
                </a:solidFill>
                <a:latin typeface="Calibri"/>
              </a:defRPr>
            </a:pPr>
            <a:r>
              <a:t>2 · Ship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0" y="2514600"/>
            <a:ext cx="7132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AF6F0"/>
                </a:solidFill>
                <a:latin typeface="Calibri"/>
              </a:defRPr>
            </a:pPr>
            <a:r>
              <a:t>Overnight $65 mid. Uline BOM. National reach without lease.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3429000"/>
            <a:ext cx="11064240" cy="1051560"/>
          </a:xfrm>
          <a:prstGeom prst="roundRect">
            <a:avLst/>
          </a:prstGeom>
          <a:solidFill>
            <a:srgbClr val="3F2818"/>
          </a:solidFill>
          <a:ln>
            <a:solidFill>
              <a:srgbClr val="5C3A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36576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D4A017"/>
                </a:solidFill>
                <a:latin typeface="Calibri"/>
              </a:defRPr>
            </a:pPr>
            <a:r>
              <a:t>3 · Club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0" y="3703320"/>
            <a:ext cx="7132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AF6F0"/>
                </a:solidFill>
                <a:latin typeface="Calibri"/>
              </a:defRPr>
            </a:pPr>
            <a:r>
              <a:t>Plate Club + rewards + Happy Hour. Habit floor after hype.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4617720"/>
            <a:ext cx="11064240" cy="1051560"/>
          </a:xfrm>
          <a:prstGeom prst="roundRect">
            <a:avLst/>
          </a:prstGeom>
          <a:solidFill>
            <a:srgbClr val="3F2818"/>
          </a:solidFill>
          <a:ln>
            <a:solidFill>
              <a:srgbClr val="5C3A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48463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D4A017"/>
                </a:solidFill>
                <a:latin typeface="Calibri"/>
              </a:defRPr>
            </a:pPr>
            <a:r>
              <a:t>4 · Kitchen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0" y="4892040"/>
            <a:ext cx="7132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AF6F0"/>
                </a:solidFill>
                <a:latin typeface="Calibri"/>
              </a:defRPr>
            </a:pPr>
            <a:r>
              <a:t>Lease only when ≥160/wk ×8 weeks + 3 mo rent buffer.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A18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9B8A8"/>
                </a:solidFill>
                <a:latin typeface="Calibri"/>
              </a:defRPr>
            </a:pPr>
            <a:r>
              <a:t>Illustrative model · Not financial advice · Sep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D4A017"/>
                </a:solidFill>
                <a:latin typeface="Calibri"/>
              </a:defRPr>
            </a:pPr>
            <a:r>
              <a:t>Appendix — open the books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051560"/>
            <a:ext cx="11064240" cy="685800"/>
          </a:xfrm>
          <a:prstGeom prst="roundRect">
            <a:avLst/>
          </a:prstGeom>
          <a:solidFill>
            <a:srgbClr val="3F2818"/>
          </a:solidFill>
          <a:ln>
            <a:solidFill>
              <a:srgbClr val="5C3A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216151"/>
            <a:ext cx="10607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AF6F0"/>
                </a:solidFill>
                <a:latin typeface="Calibri"/>
              </a:defRPr>
            </a:pPr>
            <a:r>
              <a:t>Ordering site: github.com/traplandlord/fifi-soul-food-plate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828800"/>
            <a:ext cx="11064240" cy="685800"/>
          </a:xfrm>
          <a:prstGeom prst="roundRect">
            <a:avLst/>
          </a:prstGeom>
          <a:solidFill>
            <a:srgbClr val="3F2818"/>
          </a:solidFill>
          <a:ln>
            <a:solidFill>
              <a:srgbClr val="5C3A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993392"/>
            <a:ext cx="10607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AF6F0"/>
                </a:solidFill>
                <a:latin typeface="Calibri"/>
              </a:defRPr>
            </a:pPr>
            <a:r>
              <a:t>Business CSVs: github.com/traplandlord/fifi-soul-food-business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606039"/>
            <a:ext cx="11064240" cy="685800"/>
          </a:xfrm>
          <a:prstGeom prst="roundRect">
            <a:avLst/>
          </a:prstGeom>
          <a:solidFill>
            <a:srgbClr val="3F2818"/>
          </a:solidFill>
          <a:ln>
            <a:solidFill>
              <a:srgbClr val="5C3A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770632"/>
            <a:ext cx="10607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AF6F0"/>
                </a:solidFill>
                <a:latin typeface="Calibri"/>
              </a:defRPr>
            </a:pPr>
            <a:r>
              <a:t>Start: investor/Fifi-Soul-Food-Plate-Investor-Deck.pptx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3383279"/>
            <a:ext cx="11064240" cy="685800"/>
          </a:xfrm>
          <a:prstGeom prst="roundRect">
            <a:avLst/>
          </a:prstGeom>
          <a:solidFill>
            <a:srgbClr val="3F2818"/>
          </a:solidFill>
          <a:ln>
            <a:solidFill>
              <a:srgbClr val="5C3A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3547872"/>
            <a:ext cx="10607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AF6F0"/>
                </a:solidFill>
                <a:latin typeface="Calibri"/>
              </a:defRPr>
            </a:pPr>
            <a:r>
              <a:t>Simulator: 03-simulator/ops-simulation-flywheel-demand.csv (scroll week 1→52)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4160520"/>
            <a:ext cx="11064240" cy="685800"/>
          </a:xfrm>
          <a:prstGeom prst="roundRect">
            <a:avLst/>
          </a:prstGeom>
          <a:solidFill>
            <a:srgbClr val="3F2818"/>
          </a:solidFill>
          <a:ln>
            <a:solidFill>
              <a:srgbClr val="5C3A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4325112"/>
            <a:ext cx="10607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AF6F0"/>
                </a:solidFill>
                <a:latin typeface="Calibri"/>
              </a:defRPr>
            </a:pPr>
            <a:r>
              <a:t>COGS BOM: 02-unit-economics/cogs-and-pricing.csv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4937760"/>
            <a:ext cx="11064240" cy="685800"/>
          </a:xfrm>
          <a:prstGeom prst="roundRect">
            <a:avLst/>
          </a:prstGeom>
          <a:solidFill>
            <a:srgbClr val="3F2818"/>
          </a:solidFill>
          <a:ln>
            <a:solidFill>
              <a:srgbClr val="5C3A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5102352"/>
            <a:ext cx="10607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AF6F0"/>
                </a:solidFill>
                <a:latin typeface="Calibri"/>
              </a:defRPr>
            </a:pPr>
            <a:r>
              <a:t>Master metrics: 05-metrics/fifi-comprehensive-metrics.csv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A18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D4A017"/>
                </a:solidFill>
                <a:latin typeface="Calibri"/>
              </a:defRPr>
            </a:pPr>
            <a:r>
              <a:t>Interactive what-if tools on GitHub Pages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C9B8A8"/>
                </a:solidFill>
                <a:latin typeface="Calibri"/>
              </a:defRPr>
            </a:pPr>
            <a:r>
              <a:t>business/calculators.html  ·  Pop-up only vs With location  ·  24hr full-throttle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371600"/>
            <a:ext cx="11064240" cy="1280160"/>
          </a:xfrm>
          <a:prstGeom prst="roundRect">
            <a:avLst/>
          </a:prstGeom>
          <a:solidFill>
            <a:srgbClr val="3F2818"/>
          </a:solidFill>
          <a:ln>
            <a:solidFill>
              <a:srgbClr val="5C3A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002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D4A017"/>
                </a:solidFill>
                <a:latin typeface="Calibri"/>
              </a:defRPr>
            </a:pPr>
            <a:r>
              <a:t>A · Profit by plate × platform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01168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FAF6F0"/>
                </a:solidFill>
                <a:latin typeface="Calibri"/>
              </a:defRPr>
            </a:pPr>
            <a:r>
              <a:t>Editable chicken, greens, sweets, roll, oil/bread, pack. Live cards for Pickup, LIVE, DoorDash, Grubhub, Overnight, Local delivery.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788920"/>
            <a:ext cx="11064240" cy="1280160"/>
          </a:xfrm>
          <a:prstGeom prst="roundRect">
            <a:avLst/>
          </a:prstGeom>
          <a:solidFill>
            <a:srgbClr val="3F2818"/>
          </a:solidFill>
          <a:ln>
            <a:solidFill>
              <a:srgbClr val="5C3A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30175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D4A017"/>
                </a:solidFill>
                <a:latin typeface="Calibri"/>
              </a:defRPr>
            </a:pPr>
            <a:r>
              <a:t>B · Day / week what-if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42900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FAF6F0"/>
                </a:solidFill>
                <a:latin typeface="Calibri"/>
              </a:defRPr>
            </a:pPr>
            <a:r>
              <a:t>Plates/day or week, peak night, ads, Mom/help hours. Mode toggle: pop-ups only OR with location rent.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4206240"/>
            <a:ext cx="11064240" cy="1280160"/>
          </a:xfrm>
          <a:prstGeom prst="roundRect">
            <a:avLst/>
          </a:prstGeom>
          <a:solidFill>
            <a:srgbClr val="3F2818"/>
          </a:solidFill>
          <a:ln>
            <a:solidFill>
              <a:srgbClr val="5C3A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443484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D4A017"/>
                </a:solidFill>
                <a:latin typeface="Calibri"/>
              </a:defRPr>
            </a:pPr>
            <a:r>
              <a:t>C · Scenario compare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484632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FAF6F0"/>
                </a:solidFill>
                <a:latin typeface="Calibri"/>
              </a:defRPr>
            </a:pPr>
            <a:r>
              <a:t>Same volume side-by-side: 24hr pop-up throttle vs 24hr location — cash net and after Mom @$20/hr.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C9B8A8"/>
                </a:solidFill>
                <a:latin typeface="Calibri"/>
              </a:defRPr>
            </a:pPr>
            <a:r>
              <a:t>Illustrative model · Not financial advice · Sep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